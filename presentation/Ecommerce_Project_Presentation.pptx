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62" r:id="rId2"/>
    <p:sldId id="263" r:id="rId3"/>
    <p:sldId id="264" r:id="rId4"/>
    <p:sldId id="265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658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808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913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313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204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221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177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20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045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79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859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86705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70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3732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143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80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642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52CDA00-446A-4AEB-AD07-512D9E8FC5E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3D74A-3AEB-40A3-95DA-1BAEA3F7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6228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48435-3F1B-743A-31F6-E0E73CD37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317523"/>
            <a:ext cx="9404723" cy="1170037"/>
          </a:xfrm>
        </p:spPr>
        <p:txBody>
          <a:bodyPr/>
          <a:lstStyle/>
          <a:p>
            <a:r>
              <a:rPr lang="en-IN" dirty="0"/>
              <a:t>E-Commerce Sales &amp; Profit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98AEE-1D90-372B-0291-0E1BEE4B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1535" y="3637935"/>
            <a:ext cx="4278318" cy="2610464"/>
          </a:xfrm>
        </p:spPr>
        <p:txBody>
          <a:bodyPr/>
          <a:lstStyle/>
          <a:p>
            <a:r>
              <a:rPr lang="en-IN" b="1" dirty="0"/>
              <a:t>Prepared by:</a:t>
            </a:r>
            <a:r>
              <a:rPr lang="en-IN" dirty="0"/>
              <a:t> Maheswari</a:t>
            </a:r>
          </a:p>
        </p:txBody>
      </p:sp>
    </p:spTree>
    <p:extLst>
      <p:ext uri="{BB962C8B-B14F-4D97-AF65-F5344CB8AC3E}">
        <p14:creationId xmlns:p14="http://schemas.microsoft.com/office/powerpoint/2010/main" val="807850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D38B9-E661-E237-69E2-149813B45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 &amp;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E3231-F080-C370-29E2-A493A581E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Project Overview</a:t>
            </a:r>
          </a:p>
          <a:p>
            <a:pPr lvl="0"/>
            <a:r>
              <a:rPr lang="en-IN" dirty="0"/>
              <a:t>This project </a:t>
            </a:r>
            <a:r>
              <a:rPr lang="en-IN" dirty="0" err="1"/>
              <a:t>analyzes</a:t>
            </a:r>
            <a:r>
              <a:rPr lang="en-IN" dirty="0"/>
              <a:t> e-commerce sales and profit data. </a:t>
            </a:r>
          </a:p>
          <a:p>
            <a:pPr lvl="0"/>
            <a:r>
              <a:rPr lang="en-IN" dirty="0"/>
              <a:t>The objective is to identify important sales and profit patterns. </a:t>
            </a:r>
          </a:p>
          <a:p>
            <a:pPr lvl="0"/>
            <a:r>
              <a:rPr lang="en-IN" dirty="0"/>
              <a:t>Data analysis and visualization are used to support business decisions. </a:t>
            </a:r>
          </a:p>
          <a:p>
            <a:r>
              <a:rPr lang="en-IN" b="1" dirty="0"/>
              <a:t>Problem Statement</a:t>
            </a:r>
          </a:p>
          <a:p>
            <a:pPr lvl="0"/>
            <a:r>
              <a:rPr lang="en-IN" dirty="0"/>
              <a:t>Identify high-performing categories and regions. </a:t>
            </a:r>
          </a:p>
          <a:p>
            <a:pPr lvl="0"/>
            <a:r>
              <a:rPr lang="en-IN" dirty="0" err="1"/>
              <a:t>Analyze</a:t>
            </a:r>
            <a:r>
              <a:rPr lang="en-IN" dirty="0"/>
              <a:t> sales and profit trends. </a:t>
            </a:r>
          </a:p>
          <a:p>
            <a:pPr lvl="0"/>
            <a:r>
              <a:rPr lang="en-IN" dirty="0"/>
              <a:t>Find important patterns in the dataset. </a:t>
            </a:r>
          </a:p>
          <a:p>
            <a:pPr lvl="0"/>
            <a:r>
              <a:rPr lang="en-IN" dirty="0"/>
              <a:t>Provide data-driven business recommendations.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369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41117-5289-B724-0B44-1C66AF534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&amp;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7DC6D-2D50-92CA-4B35-1A3245119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Dataset</a:t>
            </a:r>
          </a:p>
          <a:p>
            <a:pPr lvl="0"/>
            <a:r>
              <a:rPr lang="en-IN" b="1" dirty="0"/>
              <a:t>Dataset:</a:t>
            </a:r>
            <a:r>
              <a:rPr lang="en-IN" dirty="0"/>
              <a:t> Sample Superstore </a:t>
            </a:r>
          </a:p>
          <a:p>
            <a:pPr lvl="0"/>
            <a:r>
              <a:rPr lang="en-IN" b="1" dirty="0"/>
              <a:t>Records:</a:t>
            </a:r>
            <a:r>
              <a:rPr lang="en-IN" dirty="0"/>
              <a:t> 9,994 </a:t>
            </a:r>
          </a:p>
          <a:p>
            <a:pPr lvl="0"/>
            <a:r>
              <a:rPr lang="en-IN" b="1" dirty="0"/>
              <a:t>Columns:</a:t>
            </a:r>
            <a:r>
              <a:rPr lang="en-IN" dirty="0"/>
              <a:t> 22 </a:t>
            </a:r>
          </a:p>
          <a:p>
            <a:pPr lvl="0"/>
            <a:r>
              <a:rPr lang="en-IN" dirty="0"/>
              <a:t>Contains information about orders, customers, products, sales, discounts and profit. </a:t>
            </a:r>
          </a:p>
          <a:p>
            <a:r>
              <a:rPr lang="en-IN" b="1" dirty="0"/>
              <a:t>Data Preparation</a:t>
            </a:r>
          </a:p>
          <a:p>
            <a:pPr lvl="0"/>
            <a:r>
              <a:rPr lang="en-IN" dirty="0"/>
              <a:t>Checked column names and data types. </a:t>
            </a:r>
          </a:p>
          <a:p>
            <a:pPr lvl="0"/>
            <a:r>
              <a:rPr lang="en-IN" dirty="0"/>
              <a:t>Checked missing values. </a:t>
            </a:r>
          </a:p>
          <a:p>
            <a:pPr lvl="0"/>
            <a:r>
              <a:rPr lang="en-IN" dirty="0"/>
              <a:t>Checked duplicate records. </a:t>
            </a:r>
          </a:p>
          <a:p>
            <a:pPr lvl="0"/>
            <a:r>
              <a:rPr lang="en-IN" dirty="0"/>
              <a:t>No missing values were found. </a:t>
            </a:r>
          </a:p>
          <a:p>
            <a:pPr lvl="0"/>
            <a:r>
              <a:rPr lang="en-IN" dirty="0"/>
              <a:t>No duplicate rows were found. </a:t>
            </a:r>
          </a:p>
          <a:p>
            <a:pPr lvl="0"/>
            <a:r>
              <a:rPr lang="en-IN" dirty="0"/>
              <a:t>Created the cleaned dataset: </a:t>
            </a:r>
            <a:r>
              <a:rPr lang="en-IN" b="1" dirty="0"/>
              <a:t>Superstore_Cleaned.csv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0879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49737-CF46-200B-ECBA-C4DF4FDA5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&amp; Data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162A9-0201-BBD4-3074-DA7AA4DE0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Exploratory Data Analysis</a:t>
            </a:r>
          </a:p>
          <a:p>
            <a:pPr lvl="0"/>
            <a:r>
              <a:rPr lang="en-IN" dirty="0"/>
              <a:t>Descriptive statistics were calculated. </a:t>
            </a:r>
          </a:p>
          <a:p>
            <a:pPr lvl="0"/>
            <a:r>
              <a:rPr lang="en-IN" dirty="0"/>
              <a:t>Correlation between Sales, Quantity, Discount and Profit was </a:t>
            </a:r>
            <a:r>
              <a:rPr lang="en-IN" dirty="0" err="1"/>
              <a:t>analyzed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Outliers were checked using the IQR method. </a:t>
            </a:r>
          </a:p>
          <a:p>
            <a:pPr lvl="0"/>
            <a:r>
              <a:rPr lang="en-IN" dirty="0"/>
              <a:t>Sales and profit were </a:t>
            </a:r>
            <a:r>
              <a:rPr lang="en-IN" dirty="0" err="1"/>
              <a:t>analyzed</a:t>
            </a:r>
            <a:r>
              <a:rPr lang="en-IN" dirty="0"/>
              <a:t> by category, region and sub-category. </a:t>
            </a:r>
          </a:p>
          <a:p>
            <a:pPr lvl="0"/>
            <a:r>
              <a:rPr lang="en-IN" dirty="0"/>
              <a:t>Monthly sales trends were </a:t>
            </a:r>
            <a:r>
              <a:rPr lang="en-IN" dirty="0" err="1"/>
              <a:t>analyzed</a:t>
            </a:r>
            <a:r>
              <a:rPr lang="en-IN" dirty="0"/>
              <a:t>. </a:t>
            </a:r>
          </a:p>
          <a:p>
            <a:r>
              <a:rPr lang="en-IN" b="1" dirty="0"/>
              <a:t>Visualizations Created</a:t>
            </a:r>
          </a:p>
          <a:p>
            <a:pPr lvl="0"/>
            <a:r>
              <a:rPr lang="en-IN" dirty="0"/>
              <a:t>Sales by Category </a:t>
            </a:r>
          </a:p>
          <a:p>
            <a:pPr lvl="0"/>
            <a:r>
              <a:rPr lang="en-IN" dirty="0"/>
              <a:t>Profit by Category </a:t>
            </a:r>
          </a:p>
          <a:p>
            <a:pPr lvl="0"/>
            <a:r>
              <a:rPr lang="en-IN" dirty="0"/>
              <a:t>Sales by Region </a:t>
            </a:r>
          </a:p>
          <a:p>
            <a:pPr lvl="0"/>
            <a:r>
              <a:rPr lang="en-IN" dirty="0"/>
              <a:t>Sales by Sub-Category </a:t>
            </a:r>
          </a:p>
          <a:p>
            <a:pPr lvl="0"/>
            <a:r>
              <a:rPr lang="en-IN" dirty="0"/>
              <a:t>Monthly Sales Trend </a:t>
            </a:r>
          </a:p>
          <a:p>
            <a:r>
              <a:rPr lang="en-IN" b="1" dirty="0"/>
              <a:t>Tool:</a:t>
            </a:r>
            <a:r>
              <a:rPr lang="en-IN" dirty="0"/>
              <a:t> Python &amp; Matplotlib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4749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887523-5EF3-B734-1FD6-A31C9E1EE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06" y="677941"/>
            <a:ext cx="9672008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940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C018A4-2797-52C8-91C3-F0630CB6622D}"/>
              </a:ext>
            </a:extLst>
          </p:cNvPr>
          <p:cNvSpPr txBox="1"/>
          <p:nvPr/>
        </p:nvSpPr>
        <p:spPr>
          <a:xfrm>
            <a:off x="412955" y="599768"/>
            <a:ext cx="8731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Key Insights &amp;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E26F6-C1D0-82ED-76F9-9D0B774F2577}"/>
              </a:ext>
            </a:extLst>
          </p:cNvPr>
          <p:cNvSpPr txBox="1"/>
          <p:nvPr/>
        </p:nvSpPr>
        <p:spPr>
          <a:xfrm>
            <a:off x="412955" y="1602658"/>
            <a:ext cx="1157256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Business Insights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Technology</a:t>
            </a:r>
            <a:r>
              <a:rPr lang="en-IN" dirty="0"/>
              <a:t> is the highest-performing category in terms of sales and profit.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Furniture</a:t>
            </a:r>
            <a:r>
              <a:rPr lang="en-IN" dirty="0"/>
              <a:t> generates good sales, but its profit performance is comparatively lower.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The </a:t>
            </a:r>
            <a:r>
              <a:rPr lang="en-IN" b="1" dirty="0"/>
              <a:t>West region</a:t>
            </a:r>
            <a:r>
              <a:rPr lang="en-IN" dirty="0"/>
              <a:t> has the highest sales, while the </a:t>
            </a:r>
            <a:r>
              <a:rPr lang="en-IN" b="1" dirty="0"/>
              <a:t>South region</a:t>
            </a:r>
            <a:r>
              <a:rPr lang="en-IN" dirty="0"/>
              <a:t> has relatively lower sales.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Phones and Chairs</a:t>
            </a:r>
            <a:r>
              <a:rPr lang="en-IN" dirty="0"/>
              <a:t> are among the major sales-generating sub-categories.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Overall sales show an </a:t>
            </a:r>
            <a:r>
              <a:rPr lang="en-IN" b="1" dirty="0"/>
              <a:t>increasing trend over time</a:t>
            </a:r>
            <a:r>
              <a:rPr lang="en-IN" dirty="0"/>
              <a:t>, with stronger sales in the later years. </a:t>
            </a:r>
          </a:p>
          <a:p>
            <a:pPr>
              <a:buNone/>
            </a:pPr>
            <a:r>
              <a:rPr lang="en-IN" b="1" dirty="0"/>
              <a:t>Recommendations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Focus marketing and inventory planning on high-performing categories such as </a:t>
            </a:r>
            <a:r>
              <a:rPr lang="en-IN" b="1" dirty="0"/>
              <a:t>Technology</a:t>
            </a:r>
            <a:r>
              <a:rPr lang="en-IN" dirty="0"/>
              <a:t> and sub-categories such as </a:t>
            </a:r>
            <a:r>
              <a:rPr lang="en-IN" b="1" dirty="0"/>
              <a:t>Phones</a:t>
            </a:r>
            <a:r>
              <a:rPr lang="en-IN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Investigate lower-performing regions and product areas, especially the </a:t>
            </a:r>
            <a:r>
              <a:rPr lang="en-IN" b="1" dirty="0"/>
              <a:t>South region</a:t>
            </a:r>
            <a:r>
              <a:rPr lang="en-IN" dirty="0"/>
              <a:t> and lower-profit categories, and improve pricing, promotions and inventory planning. </a:t>
            </a:r>
          </a:p>
          <a:p>
            <a:pPr>
              <a:buNone/>
            </a:pPr>
            <a:r>
              <a:rPr lang="en-IN" b="1" dirty="0"/>
              <a:t>Conclusion</a:t>
            </a:r>
          </a:p>
          <a:p>
            <a:pPr>
              <a:buNone/>
            </a:pPr>
            <a:r>
              <a:rPr lang="en-IN" b="1" dirty="0"/>
              <a:t>Data analytics and Power BI help identify business performance patterns and support better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3905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</TotalTime>
  <Words>348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E-Commerce Sales &amp; Profit Analysis</vt:lpstr>
      <vt:lpstr>Project Overview &amp; Problem Statement</vt:lpstr>
      <vt:lpstr>Dataset &amp; Data Preparation</vt:lpstr>
      <vt:lpstr>EDA &amp; Data Visualizations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Bhuvana Mallella</dc:creator>
  <cp:lastModifiedBy>Bhuvana Mallella</cp:lastModifiedBy>
  <cp:revision>1</cp:revision>
  <dcterms:created xsi:type="dcterms:W3CDTF">2026-09-09T11:51:39Z</dcterms:created>
  <dcterms:modified xsi:type="dcterms:W3CDTF">2026-09-09T12:10:57Z</dcterms:modified>
</cp:coreProperties>
</file>